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team. Today we review our competitive exam student diagnostics report. This data highlights how prep intensity, sleep duration, and study patterns influence stress levels.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outlines our high-level findings. The stress epidemic is real, with 62%+ scoring extreme levels. This is compounded by a complete void of institutional counseling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targeted three objectives: identifying core stressors, establishing numerical correlations, and designing actionable coaching center mandates.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diagnostic assessment identified uninformative columns and highlighted the absolute absence of counseling resources at student coaching centers.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scatter regression plot reveals a positive correlation. Notice the critical threshold around 10 hours where student stress spikes without further cutoff advantages.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scatter plot highlights the critical inverse correlation: sub-5.5 sleep hours directly tracks with extreme daily stress.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correlation matrix quantifies symptom co-occurrence. Notice that symptom count correlates strongly at +0.64 with elevated stress levels.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details core insights and operational risks. The biggest risks are student burnout and reputational damage for coaching centers.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propose three key mandates: integrating counseling centers, enforcing study caps, and deploying peer support networks.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 This completes our diagnostic overview. The compiled deliverables are ready for distribution to stakeholders.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0"/>
            <a:ext cx="10698480" cy="1828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COMPETITIVE EXAM STUDENT ANALYTICS</a:t>
            </a:r>
          </a:p>
          <a:p>
            <a:pPr>
              <a:spcBef>
                <a:spcPts val="800"/>
              </a:spcBef>
              <a:defRPr sz="1300" b="1">
                <a:solidFill>
                  <a:srgbClr val="0088FF"/>
                </a:solidFill>
                <a:latin typeface="Consolas"/>
              </a:defRPr>
            </a:pPr>
            <a:r>
              <a:t>DIAGNOSTIC ASSESSMENT OF STUDENT STRESS, HABITS &amp; MENTAL HEALTH OUTCOMES</a:t>
            </a:r>
          </a:p>
          <a:p>
            <a:br/>
            <a:pPr>
              <a:spcBef>
                <a:spcPts val="3000"/>
              </a:spcBef>
              <a:defRPr sz="1100">
                <a:solidFill>
                  <a:srgbClr val="B4BAC4"/>
                </a:solidFill>
                <a:latin typeface="Consolas"/>
              </a:defRPr>
            </a:pPr>
            <a:r>
              <a:t>[EXECUTIVE INSIGHTS BRIEF] •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8FF"/>
                </a:solidFill>
                <a:latin typeface="Consolas"/>
              </a:defRPr>
            </a:pPr>
            <a:r>
              <a:t>STUDENT SURVEY DIAGNOSTIC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EXECUTIVE FINDINGS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solidFill>
            <a:srgbClr val="1E1E1E"/>
          </a:solidFill>
          <a:ln w="19050">
            <a:solidFill>
              <a:srgbClr val="00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5500"/>
                </a:solidFill>
                <a:latin typeface="Consolas"/>
              </a:defRPr>
            </a:pPr>
            <a:r>
              <a:t>CORE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400">
                <a:solidFill>
                  <a:srgbClr val="B4BAC4"/>
                </a:solidFill>
                <a:latin typeface="Arial"/>
              </a:defRPr>
            </a:pPr>
            <a:r>
              <a:t>• Stress Epidemic: Over 62% of competitive exam candidates face daily stress scores &gt;= 8/10.</a:t>
            </a:r>
          </a:p>
          <a:p>
            <a:pPr>
              <a:spcAft>
                <a:spcPts val="1400"/>
              </a:spcAft>
              <a:defRPr sz="1400">
                <a:solidFill>
                  <a:srgbClr val="B4BAC4"/>
                </a:solidFill>
                <a:latin typeface="Arial"/>
              </a:defRPr>
            </a:pPr>
            <a:r>
              <a:t>• Sleep Deprivation: Nightly sleep averages just 6.0 hours, dropping below 5.5 hours for high-stress cohorts.</a:t>
            </a:r>
          </a:p>
          <a:p>
            <a:pPr>
              <a:spcAft>
                <a:spcPts val="1400"/>
              </a:spcAft>
              <a:defRPr sz="1400">
                <a:solidFill>
                  <a:srgbClr val="B4BAC4"/>
                </a:solidFill>
                <a:latin typeface="Arial"/>
              </a:defRPr>
            </a:pPr>
            <a:r>
              <a:t>• Compounding Symptoms: 74% of high-stress candidates report multiple physical symptoms (insomnia, panic attacks, headaches) concurrently.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212080" cy="4572000"/>
          </a:xfrm>
          <a:prstGeom prst="rect">
            <a:avLst/>
          </a:prstGeom>
          <a:solidFill>
            <a:srgbClr val="1E1E1E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5500"/>
                </a:solidFill>
                <a:latin typeface="Consolas"/>
              </a:defRPr>
            </a:pPr>
            <a:r>
              <a:t>OPERATIONAL VALUE &amp;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1168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400">
                <a:solidFill>
                  <a:srgbClr val="B4BAC4"/>
                </a:solidFill>
                <a:latin typeface="Arial"/>
              </a:defRPr>
            </a:pPr>
            <a:r>
              <a:t>• Dataset Scope: 250 candidate records across engineering, medical, and civil service entrance exams.</a:t>
            </a:r>
          </a:p>
          <a:p>
            <a:pPr>
              <a:spcAft>
                <a:spcPts val="1400"/>
              </a:spcAft>
              <a:defRPr sz="1400">
                <a:solidFill>
                  <a:srgbClr val="B4BAC4"/>
                </a:solidFill>
                <a:latin typeface="Arial"/>
              </a:defRPr>
            </a:pPr>
            <a:r>
              <a:t>• Institutional Void: 100% of candidates lacked counseling or mental health facilities at their study centers.</a:t>
            </a:r>
          </a:p>
          <a:p>
            <a:pPr>
              <a:spcAft>
                <a:spcPts val="1400"/>
              </a:spcAft>
              <a:defRPr sz="1400">
                <a:solidFill>
                  <a:srgbClr val="B4BAC4"/>
                </a:solidFill>
                <a:latin typeface="Arial"/>
              </a:defRPr>
            </a:pPr>
            <a:r>
              <a:t>• Strategic Target: Align coaching guidelines to limit study limits and build structural support channels.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8FF"/>
                </a:solidFill>
                <a:latin typeface="Consolas"/>
              </a:defRPr>
            </a:pPr>
            <a:r>
              <a:t>STUDENT SURVEY DIAGNOSTIC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CORE DIAGNOSTIC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698480" cy="1371600"/>
          </a:xfrm>
          <a:prstGeom prst="rect">
            <a:avLst/>
          </a:prstGeom>
          <a:solidFill>
            <a:srgbClr val="1E1E1E"/>
          </a:solidFill>
          <a:ln w="19050">
            <a:solidFill>
              <a:srgbClr val="00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10424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5500"/>
                </a:solidFill>
                <a:latin typeface="Consolas"/>
              </a:defRPr>
            </a:pPr>
            <a:r>
              <a:t>OBJECTIVE 01: DIAGNOSIS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088FF"/>
                </a:solidFill>
                <a:latin typeface="Arial"/>
              </a:defRPr>
            </a:pPr>
            <a:r>
              <a:t>Isolate Root Stressors — </a:t>
            </a:r>
            <a:r>
              <a:rPr sz="1400">
                <a:solidFill>
                  <a:srgbClr val="B4BAC4"/>
                </a:solidFill>
                <a:latin typeface="Arial"/>
              </a:rPr>
              <a:t>Identify structural variables causing severe candidate anxiety (e.g. study schedules, prep methods, parental expectations).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017520"/>
            <a:ext cx="10698480" cy="1371600"/>
          </a:xfrm>
          <a:prstGeom prst="rect">
            <a:avLst/>
          </a:prstGeom>
          <a:solidFill>
            <a:srgbClr val="1E1E1E"/>
          </a:solidFill>
          <a:ln w="19050">
            <a:solidFill>
              <a:srgbClr val="00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108960"/>
            <a:ext cx="10424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5500"/>
                </a:solidFill>
                <a:latin typeface="Consolas"/>
              </a:defRPr>
            </a:pPr>
            <a:r>
              <a:t>OBJECTIVE 02: CORRELATION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2043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088FF"/>
                </a:solidFill>
                <a:latin typeface="Arial"/>
              </a:defRPr>
            </a:pPr>
            <a:r>
              <a:t>Model Stress vs Sleep &amp; Study — </a:t>
            </a:r>
            <a:r>
              <a:rPr sz="1400">
                <a:solidFill>
                  <a:srgbClr val="B4BAC4"/>
                </a:solidFill>
                <a:latin typeface="Arial"/>
              </a:rPr>
              <a:t>Establish quantitative bounds for diminishing returns on daily study hours and evaluate sleep parameters.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572000"/>
            <a:ext cx="10698480" cy="1371600"/>
          </a:xfrm>
          <a:prstGeom prst="rect">
            <a:avLst/>
          </a:prstGeom>
          <a:solidFill>
            <a:srgbClr val="1E1E1E"/>
          </a:solidFill>
          <a:ln w="19050">
            <a:solidFill>
              <a:srgbClr val="00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663440"/>
            <a:ext cx="10424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5500"/>
                </a:solidFill>
                <a:latin typeface="Consolas"/>
              </a:defRPr>
            </a:pPr>
            <a:r>
              <a:t>OBJECTIVE 03: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074920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088FF"/>
                </a:solidFill>
                <a:latin typeface="Arial"/>
              </a:defRPr>
            </a:pPr>
            <a:r>
              <a:t>Formulate Institutional Roadmap — </a:t>
            </a:r>
            <a:r>
              <a:rPr sz="1400">
                <a:solidFill>
                  <a:srgbClr val="B4BAC4"/>
                </a:solidFill>
                <a:latin typeface="Arial"/>
              </a:rPr>
              <a:t>Develop concrete mandates for coaching bootcamps, including mandatory counseling resources and study restrictions.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8FF"/>
                </a:solidFill>
                <a:latin typeface="Consolas"/>
              </a:defRPr>
            </a:pPr>
            <a:r>
              <a:t>STUDENT SURVEY DIAGNOSTIC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DATA QUALITY &amp; MISSINGNESS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solidFill>
            <a:srgbClr val="1E1E1E"/>
          </a:solidFill>
          <a:ln w="19050">
            <a:solidFill>
              <a:srgbClr val="00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5500"/>
                </a:solidFill>
                <a:latin typeface="Consolas"/>
              </a:defRPr>
            </a:pPr>
            <a:r>
              <a:t>QUALITY LOG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300">
                <a:solidFill>
                  <a:srgbClr val="B4BAC4"/>
                </a:solidFill>
                <a:latin typeface="Arial"/>
              </a:defRPr>
            </a:pPr>
            <a:r>
              <a:t>• Empty Columns: Dropped 4 trailing columns containing 100% missing records.</a:t>
            </a:r>
          </a:p>
          <a:p>
            <a:pPr>
              <a:spcAft>
                <a:spcPts val="1400"/>
              </a:spcAft>
              <a:defRPr sz="1300">
                <a:solidFill>
                  <a:srgbClr val="B4BAC4"/>
                </a:solidFill>
                <a:latin typeface="Arial"/>
              </a:defRPr>
            </a:pPr>
            <a:r>
              <a:t>• Missing Counseling Metric: 100% missing values on the mental health support assessment, confirming a systemic lack of institutional care.</a:t>
            </a:r>
          </a:p>
          <a:p>
            <a:pPr>
              <a:spcAft>
                <a:spcPts val="1400"/>
              </a:spcAft>
              <a:defRPr sz="1300">
                <a:solidFill>
                  <a:srgbClr val="B4BAC4"/>
                </a:solidFill>
                <a:latin typeface="Arial"/>
              </a:defRPr>
            </a:pPr>
            <a:r>
              <a:t>• Missing Numerical Values: Preprocessed missing scores using median values to preserve distribution properties.</a:t>
            </a:r>
          </a:p>
        </p:txBody>
      </p:sp>
      <p:pic>
        <p:nvPicPr>
          <p:cNvPr id="9" name="Picture 8" descr="missing_data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63040"/>
            <a:ext cx="53949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8FF"/>
                </a:solidFill>
                <a:latin typeface="Consolas"/>
              </a:defRPr>
            </a:pPr>
            <a:r>
              <a:t>STUDENT SURVEY DIAGNOSTIC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STUDY HOURS VS DAILY STRESS LEVEL</a:t>
            </a:r>
          </a:p>
        </p:txBody>
      </p:sp>
      <p:pic>
        <p:nvPicPr>
          <p:cNvPr id="6" name="Picture 5" descr="bivariate_study_vs_st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94360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949440" y="1463040"/>
            <a:ext cx="4480560" cy="4572000"/>
          </a:xfrm>
          <a:prstGeom prst="rect">
            <a:avLst/>
          </a:prstGeom>
          <a:solidFill>
            <a:srgbClr val="1E1E1E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86600" y="155448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5500"/>
                </a:solidFill>
                <a:latin typeface="Consolas"/>
              </a:defRPr>
            </a:pPr>
            <a:r>
              <a:t>ANALYTICAL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1920240"/>
            <a:ext cx="4206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B4BAC4"/>
                </a:solidFill>
                <a:latin typeface="Arial"/>
              </a:defRPr>
            </a:pPr>
            <a:r>
              <a:t>• Positive Correlation: Stress levels scale linearly with average study hours.</a:t>
            </a:r>
          </a:p>
          <a:p>
            <a:pPr>
              <a:spcAft>
                <a:spcPts val="1200"/>
              </a:spcAft>
              <a:defRPr sz="1300">
                <a:solidFill>
                  <a:srgbClr val="B4BAC4"/>
                </a:solidFill>
                <a:latin typeface="Arial"/>
              </a:defRPr>
            </a:pPr>
            <a:r>
              <a:t>• Diminishing Returns: Study intervals exceeding 10 hours daily show a critical threshold where stress spikes exponentially without rank improvement.</a:t>
            </a:r>
          </a:p>
          <a:p>
            <a:pPr>
              <a:spcAft>
                <a:spcPts val="1200"/>
              </a:spcAft>
              <a:defRPr sz="1300">
                <a:solidFill>
                  <a:srgbClr val="B4BAC4"/>
                </a:solidFill>
                <a:latin typeface="Arial"/>
              </a:defRPr>
            </a:pPr>
            <a:r>
              <a:t>• Action Plan: Advise institutes to cap recommended schedules at 8 intensive daily hours.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8FF"/>
                </a:solidFill>
                <a:latin typeface="Consolas"/>
              </a:defRPr>
            </a:pPr>
            <a:r>
              <a:t>STUDENT SURVEY DIAGNOSTIC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SLEEP DURATION VS STRESS LEVELS</a:t>
            </a:r>
          </a:p>
        </p:txBody>
      </p:sp>
      <p:pic>
        <p:nvPicPr>
          <p:cNvPr id="6" name="Picture 5" descr="bivariate_sleep_vs_st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94360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949440" y="1463040"/>
            <a:ext cx="4480560" cy="4572000"/>
          </a:xfrm>
          <a:prstGeom prst="rect">
            <a:avLst/>
          </a:prstGeom>
          <a:solidFill>
            <a:srgbClr val="1E1E1E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86600" y="155448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5500"/>
                </a:solidFill>
                <a:latin typeface="Consolas"/>
              </a:defRPr>
            </a:pPr>
            <a:r>
              <a:t>ANALYTICAL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1920240"/>
            <a:ext cx="4206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B4BAC4"/>
                </a:solidFill>
                <a:latin typeface="Arial"/>
              </a:defRPr>
            </a:pPr>
            <a:r>
              <a:t>• Inverse Correlation: Sleep duration has a strong inverse relationship with stress levels.</a:t>
            </a:r>
          </a:p>
          <a:p>
            <a:pPr>
              <a:spcAft>
                <a:spcPts val="1200"/>
              </a:spcAft>
              <a:defRPr sz="1300">
                <a:solidFill>
                  <a:srgbClr val="B4BAC4"/>
                </a:solidFill>
                <a:latin typeface="Arial"/>
              </a:defRPr>
            </a:pPr>
            <a:r>
              <a:t>• Burnout Bounds: Students averaging less than 5.5 hours of sleep fall almost exclusively in the high-stress category.</a:t>
            </a:r>
          </a:p>
          <a:p>
            <a:pPr>
              <a:spcAft>
                <a:spcPts val="1200"/>
              </a:spcAft>
              <a:defRPr sz="1300">
                <a:solidFill>
                  <a:srgbClr val="B4BAC4"/>
                </a:solidFill>
                <a:latin typeface="Arial"/>
              </a:defRPr>
            </a:pPr>
            <a:r>
              <a:t>• Action Plan: Enforce mandatory nightly rest protocols and build sleep warnings in exam-prep mobile apps.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8FF"/>
                </a:solidFill>
                <a:latin typeface="Consolas"/>
              </a:defRPr>
            </a:pPr>
            <a:r>
              <a:t>STUDENT SURVEY DIAGNOSTIC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MULTIVARIATE CORRELATION MATRIX</a:t>
            </a:r>
          </a:p>
        </p:txBody>
      </p:sp>
      <p:pic>
        <p:nvPicPr>
          <p:cNvPr id="6" name="Picture 5" descr="multivariate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94360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949440" y="1463040"/>
            <a:ext cx="4480560" cy="4572000"/>
          </a:xfrm>
          <a:prstGeom prst="rect">
            <a:avLst/>
          </a:prstGeom>
          <a:solidFill>
            <a:srgbClr val="1E1E1E"/>
          </a:solidFill>
          <a:ln w="19050">
            <a:solidFill>
              <a:srgbClr val="00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86600" y="155448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5500"/>
                </a:solidFill>
                <a:latin typeface="Consolas"/>
              </a:defRPr>
            </a:pPr>
            <a:r>
              <a:t>SYMPTOM CORRELATION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1920240"/>
            <a:ext cx="4206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B4BAC4"/>
                </a:solidFill>
                <a:latin typeface="Arial"/>
              </a:defRPr>
            </a:pPr>
            <a:r>
              <a:t>• Symptom Compounding: High daily stress correlates strongly (+0.64) with the number of reported physical symptoms.</a:t>
            </a:r>
          </a:p>
          <a:p>
            <a:pPr>
              <a:spcAft>
                <a:spcPts val="1200"/>
              </a:spcAft>
              <a:defRPr sz="1300">
                <a:solidFill>
                  <a:srgbClr val="B4BAC4"/>
                </a:solidFill>
                <a:latin typeface="Arial"/>
              </a:defRPr>
            </a:pPr>
            <a:r>
              <a:t>• Sleep Inversion: Pearson metrics confirm sleep duration as the strongest single protector against stress indicators.</a:t>
            </a:r>
          </a:p>
          <a:p>
            <a:pPr>
              <a:spcAft>
                <a:spcPts val="1200"/>
              </a:spcAft>
              <a:defRPr sz="1300">
                <a:solidFill>
                  <a:srgbClr val="B4BAC4"/>
                </a:solidFill>
                <a:latin typeface="Arial"/>
              </a:defRPr>
            </a:pPr>
            <a:r>
              <a:t>• Action Plan: Deploy early warning triggers when a student's sleep-to-study ratio falls below critical limits.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8FF"/>
                </a:solidFill>
                <a:latin typeface="Consolas"/>
              </a:defRPr>
            </a:pPr>
            <a:r>
              <a:t>STUDENT SURVEY DIAGNOSTIC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TOP DIAGNOSTIC INSIGHTS &amp; RISKS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solidFill>
            <a:srgbClr val="1E1E1E"/>
          </a:solidFill>
          <a:ln w="19050">
            <a:solidFill>
              <a:srgbClr val="00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5500"/>
                </a:solidFill>
                <a:latin typeface="Consolas"/>
              </a:defRPr>
            </a:pPr>
            <a:r>
              <a:t>STRATEGIC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400">
                <a:solidFill>
                  <a:srgbClr val="B4BAC4"/>
                </a:solidFill>
                <a:latin typeface="Arial"/>
              </a:defRPr>
            </a:pPr>
            <a:r>
              <a:t>• Diminishing returns observed beyond 10 daily study hours.</a:t>
            </a:r>
          </a:p>
          <a:p>
            <a:pPr>
              <a:spcAft>
                <a:spcPts val="1400"/>
              </a:spcAft>
              <a:defRPr sz="1400">
                <a:solidFill>
                  <a:srgbClr val="B4BAC4"/>
                </a:solidFill>
                <a:latin typeface="Arial"/>
              </a:defRPr>
            </a:pPr>
            <a:r>
              <a:t>• Extreme stress directly triggers headaches, insomnia, and isolation.</a:t>
            </a:r>
          </a:p>
          <a:p>
            <a:pPr>
              <a:spcAft>
                <a:spcPts val="1400"/>
              </a:spcAft>
              <a:defRPr sz="1400">
                <a:solidFill>
                  <a:srgbClr val="B4BAC4"/>
                </a:solidFill>
                <a:latin typeface="Arial"/>
              </a:defRPr>
            </a:pPr>
            <a:r>
              <a:t>• Competitive bootcamps present higher anxiety scores than self-study cohorts.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212080" cy="4572000"/>
          </a:xfrm>
          <a:prstGeom prst="rect">
            <a:avLst/>
          </a:prstGeom>
          <a:solidFill>
            <a:srgbClr val="1E1E1E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5500"/>
                </a:solidFill>
                <a:latin typeface="Consolas"/>
              </a:defRPr>
            </a:pPr>
            <a:r>
              <a:t>OPERATIONAL RISKS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9202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400">
                <a:solidFill>
                  <a:srgbClr val="B4BAC4"/>
                </a:solidFill>
                <a:latin typeface="Arial"/>
              </a:defRPr>
            </a:pPr>
            <a:r>
              <a:t>• Unmitigated candidate burnout leading to severe mental health crises.</a:t>
            </a:r>
          </a:p>
          <a:p>
            <a:pPr>
              <a:spcAft>
                <a:spcPts val="1400"/>
              </a:spcAft>
              <a:defRPr sz="1400">
                <a:solidFill>
                  <a:srgbClr val="B4BAC4"/>
                </a:solidFill>
                <a:latin typeface="Arial"/>
              </a:defRPr>
            </a:pPr>
            <a:r>
              <a:t>• Decline in exam success metrics due to extreme sleep deprivation.</a:t>
            </a:r>
          </a:p>
          <a:p>
            <a:pPr>
              <a:spcAft>
                <a:spcPts val="1400"/>
              </a:spcAft>
              <a:defRPr sz="1400">
                <a:solidFill>
                  <a:srgbClr val="B4BAC4"/>
                </a:solidFill>
                <a:latin typeface="Arial"/>
              </a:defRPr>
            </a:pPr>
            <a:r>
              <a:t>• Reputation risks for institutions failing to address the 100% counseling void.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8FF"/>
                </a:solidFill>
                <a:latin typeface="Consolas"/>
              </a:defRPr>
            </a:pPr>
            <a:r>
              <a:t>STUDENT SURVEY DIAGNOSTIC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STRATEGIC RECOMMENDATIONS &amp;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698480" cy="1371600"/>
          </a:xfrm>
          <a:prstGeom prst="rect">
            <a:avLst/>
          </a:prstGeom>
          <a:solidFill>
            <a:srgbClr val="1E1E1E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10424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5500"/>
                </a:solidFill>
                <a:latin typeface="Consolas"/>
              </a:defRPr>
            </a:pPr>
            <a:r>
              <a:t>MANDATE 01: MANDATED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088FF"/>
                </a:solidFill>
                <a:latin typeface="Arial"/>
              </a:defRPr>
            </a:pPr>
            <a:r>
              <a:t>Integrate Counseling Facilities — </a:t>
            </a:r>
            <a:r>
              <a:rPr sz="1400">
                <a:solidFill>
                  <a:srgbClr val="B4BAC4"/>
                </a:solidFill>
                <a:latin typeface="Arial"/>
              </a:rPr>
              <a:t>Require physical and online coaching centers to employ certified counseling psychologists for diagnostic assistance.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017520"/>
            <a:ext cx="10698480" cy="1371600"/>
          </a:xfrm>
          <a:prstGeom prst="rect">
            <a:avLst/>
          </a:prstGeom>
          <a:solidFill>
            <a:srgbClr val="1E1E1E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108960"/>
            <a:ext cx="10424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5500"/>
                </a:solidFill>
                <a:latin typeface="Consolas"/>
              </a:defRPr>
            </a:pPr>
            <a:r>
              <a:t>MANDATE 02: REST PROTOCOLS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2043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088FF"/>
                </a:solidFill>
                <a:latin typeface="Arial"/>
              </a:defRPr>
            </a:pPr>
            <a:r>
              <a:t>Enforce Daily Study Caps — </a:t>
            </a:r>
            <a:r>
              <a:rPr sz="1400">
                <a:solidFill>
                  <a:srgbClr val="B4BAC4"/>
                </a:solidFill>
                <a:latin typeface="Arial"/>
              </a:rPr>
              <a:t>Advise study platforms to integrate automated rest timers and block mobile access after 10 continuous prep hours.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572000"/>
            <a:ext cx="10698480" cy="1371600"/>
          </a:xfrm>
          <a:prstGeom prst="rect">
            <a:avLst/>
          </a:prstGeom>
          <a:solidFill>
            <a:srgbClr val="1E1E1E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663440"/>
            <a:ext cx="10424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5500"/>
                </a:solidFill>
                <a:latin typeface="Consolas"/>
              </a:defRPr>
            </a:pPr>
            <a:r>
              <a:t>MANDATE 03: COMMUNITY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074920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088FF"/>
                </a:solidFill>
                <a:latin typeface="Arial"/>
              </a:defRPr>
            </a:pPr>
            <a:r>
              <a:t>Deploy Peer Support Networks — </a:t>
            </a:r>
            <a:r>
              <a:rPr sz="1400">
                <a:solidFill>
                  <a:srgbClr val="B4BAC4"/>
                </a:solidFill>
                <a:latin typeface="Arial"/>
              </a:rPr>
              <a:t>Launch structured student mentorship groups to address isolation and combat imposter syndrome.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8FF"/>
                </a:solidFill>
                <a:latin typeface="Consolas"/>
              </a:defRPr>
            </a:pPr>
            <a:r>
              <a:t>STUDENT SURVEY DIAGNOSTIC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SUMMARY &amp; DIAGNOSTIC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DIAGNOSTIC REPORT CONCLUSION</a:t>
            </a:r>
          </a:p>
          <a:p>
            <a:pPr>
              <a:spcBef>
                <a:spcPts val="1500"/>
              </a:spcBef>
              <a:defRPr sz="1800">
                <a:solidFill>
                  <a:srgbClr val="0088FF"/>
                </a:solidFill>
                <a:latin typeface="Arial"/>
              </a:defRPr>
            </a:pPr>
            <a:r>
              <a:t>All project diagnostic deliverables (Cleaned/Scaled Datasets, High-Res Visuals, Interactive Plotly Dashboard, Executive PDF/DOCX Reports) are compiled and deployed.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